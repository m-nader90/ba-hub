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www.linkedin.com/in/ahmdalsayyad/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737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389120"/>
            <a:ext cx="12188952" cy="2468880"/>
          </a:xfrm>
          <a:prstGeom prst="rect">
            <a:avLst/>
          </a:prstGeom>
          <a:solidFill>
            <a:srgbClr val="526D82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274320"/>
            <a:ext cx="2286000" cy="731520"/>
          </a:xfrm>
          <a:prstGeom prst="rect">
            <a:avLst/>
          </a:prstGeom>
          <a:solidFill>
            <a:srgbClr val="526D82"/>
          </a:solidFill>
          <a:ln w="12700">
            <a:solidFill>
              <a:srgbClr val="DDE6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7432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DE6ED"/>
                </a:solidFill>
              </a:rPr>
              <a:t>[COMPANY LOGO]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1371600"/>
            <a:ext cx="106984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Stakeholder Analysis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731520" y="30175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DDE6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Stakeholder Mapping &amp; Engagement Strategy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31520" y="466344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 by: [Business Analyst]  |  Date: June 2025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52120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DE6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[Organization Name]</a:t>
            </a:r>
            <a:endParaRPr lang="en-US" sz="1200" dirty="0"/>
          </a:p>
        </p:txBody>
      </p:sp>
      <p:sp>
        <p:nvSpPr>
          <p:cNvPr id="10" name="TextBox 9"/>
          <p:cNvSpPr txBox="1"/>
          <p:nvPr/>
        </p:nvSpPr>
        <p:spPr>
          <a:xfrm>
            <a:off x="6019800" y="6355080"/>
            <a:ext cx="5943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i="1">
                <a:solidFill>
                  <a:srgbClr val="DDE6ED"/>
                </a:solidFill>
              </a:rPr>
              <a:t>Design &amp; Prepared by </a:t>
            </a:r>
            <a:r>
              <a:rPr sz="1000" i="1" b="1" u="sng">
                <a:solidFill>
                  <a:srgbClr val="FFFFFF"/>
                </a:solidFill>
                <a:hlinkClick r:id="rId3"/>
              </a:rPr>
              <a:t>Ahmed El Sayyad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7374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/ Interest Grid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526D82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[Confidential] | [Organization Name]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430000" y="65379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[X]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5486400" cy="5303520"/>
          </a:xfrm>
          <a:prstGeom prst="rect">
            <a:avLst/>
          </a:prstGeom>
          <a:solidFill>
            <a:srgbClr val="FFF9E6"/>
          </a:solidFill>
          <a:ln w="12700">
            <a:solidFill>
              <a:srgbClr val="FFC0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217920" y="1097280"/>
            <a:ext cx="5486400" cy="5303520"/>
          </a:xfrm>
          <a:prstGeom prst="rect">
            <a:avLst/>
          </a:prstGeom>
          <a:solidFill>
            <a:srgbClr val="E2EFDA"/>
          </a:solidFill>
          <a:ln w="12700">
            <a:solidFill>
              <a:srgbClr val="70AD4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097280"/>
            <a:ext cx="5486400" cy="2560320"/>
          </a:xfrm>
          <a:prstGeom prst="rect">
            <a:avLst/>
          </a:prstGeom>
          <a:solidFill>
            <a:srgbClr val="DDE6ED"/>
          </a:solidFill>
          <a:ln w="12700">
            <a:solidFill>
              <a:srgbClr val="526D8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17920" y="1097280"/>
            <a:ext cx="5486400" cy="2560320"/>
          </a:xfrm>
          <a:prstGeom prst="rect">
            <a:avLst/>
          </a:prstGeom>
          <a:solidFill>
            <a:srgbClr val="FFE5E5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1188720"/>
            <a:ext cx="5303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26D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SATISFIED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526D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(High Power, Low Interest)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309360" y="1188720"/>
            <a:ext cx="5303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 CLOSELY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(High Power, High Interest)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3840480"/>
            <a:ext cx="5303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C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C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(Low Power, Low Interest)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309360" y="3840480"/>
            <a:ext cx="5303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0AD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INFORMED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70AD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(Low Power, High Interest)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 rot="16200000">
            <a:off x="45720" y="1371600"/>
            <a:ext cx="3657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POWER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 rot="16200000">
            <a:off x="45720" y="3840480"/>
            <a:ext cx="3657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POWER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914400" y="64922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INTEREST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675120" y="64922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INTEREST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503920" y="1463040"/>
            <a:ext cx="365760" cy="36576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915400" y="150876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Sponsor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9144000" y="2011680"/>
            <a:ext cx="365760" cy="36576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555480" y="20574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Owner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1645920" y="1554480"/>
            <a:ext cx="365760" cy="365760"/>
          </a:xfrm>
          <a:prstGeom prst="ellipse">
            <a:avLst/>
          </a:prstGeom>
          <a:solidFill>
            <a:srgbClr val="526D82"/>
          </a:solidFill>
          <a:ln w="12700">
            <a:solidFill>
              <a:srgbClr val="526D8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057400" y="16002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Director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377440" y="2194560"/>
            <a:ext cx="365760" cy="365760"/>
          </a:xfrm>
          <a:prstGeom prst="ellipse">
            <a:avLst/>
          </a:prstGeom>
          <a:solidFill>
            <a:srgbClr val="526D82"/>
          </a:solidFill>
          <a:ln w="12700">
            <a:solidFill>
              <a:srgbClr val="526D8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88920" y="22402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Regulator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8778240" y="4846320"/>
            <a:ext cx="365760" cy="365760"/>
          </a:xfrm>
          <a:prstGeom prst="ellipse">
            <a:avLst/>
          </a:prstGeom>
          <a:solidFill>
            <a:srgbClr val="70AD47"/>
          </a:solidFill>
          <a:ln w="12700">
            <a:solidFill>
              <a:srgbClr val="70AD4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89720" y="48920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 Users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589520" y="4206240"/>
            <a:ext cx="365760" cy="365760"/>
          </a:xfrm>
          <a:prstGeom prst="ellipse">
            <a:avLst/>
          </a:prstGeom>
          <a:solidFill>
            <a:srgbClr val="70AD47"/>
          </a:solidFill>
          <a:ln w="12700">
            <a:solidFill>
              <a:srgbClr val="70AD4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001000" y="425196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Finance Team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103120" y="5120640"/>
            <a:ext cx="365760" cy="365760"/>
          </a:xfrm>
          <a:prstGeom prst="ellipse">
            <a:avLst/>
          </a:prstGeom>
          <a:solidFill>
            <a:srgbClr val="FFC000"/>
          </a:solidFill>
          <a:ln w="12700">
            <a:solidFill>
              <a:srgbClr val="FFC0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514600" y="516636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 Vendor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7374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Engagement Strategy by Quadrant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526D82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[Confidential] | [Organization Name]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430000" y="65379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[X]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1097280"/>
            <a:ext cx="5486400" cy="2468880"/>
          </a:xfrm>
          <a:prstGeom prst="rect">
            <a:avLst/>
          </a:prstGeom>
          <a:solidFill>
            <a:srgbClr val="FFE5E5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097280"/>
            <a:ext cx="5486400" cy="50292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09728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 Closely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1371600"/>
            <a:ext cx="5303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Power | High Interest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1691640"/>
            <a:ext cx="5303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Strategy: Engage regularly in decision-making. Provide detailed updates. Involve in key decisions early. Address concerns promptly.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292608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Examples: Executive Sponsor, Business Owner, Steering Committee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309360" y="1097280"/>
            <a:ext cx="5486400" cy="2468880"/>
          </a:xfrm>
          <a:prstGeom prst="rect">
            <a:avLst/>
          </a:prstGeom>
          <a:solidFill>
            <a:srgbClr val="DDE6ED"/>
          </a:solidFill>
          <a:ln w="19050">
            <a:solidFill>
              <a:srgbClr val="526D8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09360" y="1097280"/>
            <a:ext cx="5486400" cy="502920"/>
          </a:xfrm>
          <a:prstGeom prst="rect">
            <a:avLst/>
          </a:prstGeom>
          <a:solidFill>
            <a:srgbClr val="526D82"/>
          </a:solidFill>
          <a:ln w="12700">
            <a:solidFill>
              <a:srgbClr val="526D8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0" y="109728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Satisfied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00800" y="1371600"/>
            <a:ext cx="5303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Power | Low Interest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400800" y="1691640"/>
            <a:ext cx="5303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Strategy: Periodic high-level updates. Avoid overloading with detail. Ensure they feel respected and informed. Escalate critical issues.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00800" y="292608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Examples: Senior Executives, Regulators, Board Members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3840480"/>
            <a:ext cx="5486400" cy="2468880"/>
          </a:xfrm>
          <a:prstGeom prst="rect">
            <a:avLst/>
          </a:prstGeom>
          <a:solidFill>
            <a:srgbClr val="E2EFDA"/>
          </a:solidFill>
          <a:ln w="19050">
            <a:solidFill>
              <a:srgbClr val="70AD4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3840480"/>
            <a:ext cx="5486400" cy="502920"/>
          </a:xfrm>
          <a:prstGeom prst="rect">
            <a:avLst/>
          </a:prstGeom>
          <a:solidFill>
            <a:srgbClr val="70AD47"/>
          </a:solidFill>
          <a:ln w="12700">
            <a:solidFill>
              <a:srgbClr val="70AD4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84048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Informed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57200" y="4114800"/>
            <a:ext cx="5303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Power | High Interest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" y="4434840"/>
            <a:ext cx="5303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Strategy: Regular updates via newsletters or portals. Leverage as ambassadors. Involve in testing and feedback. Channel feedback upward.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566928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Examples: End Users, Frontline Staff, Subject Matter Experts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309360" y="3840480"/>
            <a:ext cx="5486400" cy="2468880"/>
          </a:xfrm>
          <a:prstGeom prst="rect">
            <a:avLst/>
          </a:prstGeom>
          <a:solidFill>
            <a:srgbClr val="E9EFF3"/>
          </a:solidFill>
          <a:ln w="19050">
            <a:solidFill>
              <a:srgbClr val="9E9E9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309360" y="3840480"/>
            <a:ext cx="5486400" cy="502920"/>
          </a:xfrm>
          <a:prstGeom prst="rect">
            <a:avLst/>
          </a:prstGeom>
          <a:solidFill>
            <a:srgbClr val="9E9E9E"/>
          </a:solidFill>
          <a:ln w="12700">
            <a:solidFill>
              <a:srgbClr val="9E9E9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0" y="384048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400800" y="4114800"/>
            <a:ext cx="5303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Power | Low Interest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400800" y="4434840"/>
            <a:ext cx="5303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Strategy: Minimal effort. General announcements only. Watch for position changes that increase power or interest.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400800" y="566928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Examples: External Vendors (non-critical), General Public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7374D"/>
      </a:dk2>
      <a:lt2>
        <a:srgbClr val="DDE6ED"/>
      </a:lt2>
      <a:accent1>
        <a:srgbClr val="526D82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2026-06-12T18:42:44Z</dcterms:created>
  <dcterms:modified xsi:type="dcterms:W3CDTF">2026-06-12T18:42:44Z</dcterms:modified>
</cp:coreProperties>
</file>