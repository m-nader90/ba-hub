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ahmdalsayyad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DD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6ED"/>
                </a:solidFill>
              </a:rPr>
              <a:t>[COMPANY 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Analysis &amp; Improvement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 Review Template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[Business Analyst]  |  Date: June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[Organization Name]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6355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i="1">
                <a:solidFill>
                  <a:srgbClr val="DDE6ED"/>
                </a:solidFill>
              </a:rPr>
              <a:t>Design &amp; Prepared by </a:t>
            </a:r>
            <a:r>
              <a:rPr sz="1000" i="1" b="1" u="sng">
                <a:solidFill>
                  <a:srgbClr val="FFFFFF"/>
                </a:solidFill>
                <a:hlinkClick r:id="rId3"/>
              </a:rPr>
              <a:t>Ahmed El Sayyad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Process Overview &amp; 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737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Current State (As-Is) Process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2860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Pain Points &amp; Root Cause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42316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834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Future State (To-Be) Process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97180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3832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Gap Analysis &amp; Improvements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52044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931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Benefits &amp; KPIs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06908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4805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Implementation Roadmap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461772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5029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Next Steps &amp; Decisions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516636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Overview &amp; Objectives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Process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Details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Name: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[Process Name]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Owner: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 Name]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[Daily/Weekly/Monthly]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transactions/period]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Level: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Review: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1188720"/>
            <a:ext cx="5760720" cy="5029200"/>
          </a:xfrm>
          <a:prstGeom prst="rect">
            <a:avLst/>
          </a:prstGeom>
          <a:solidFill>
            <a:srgbClr val="E9EFF3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801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Objectives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1920240"/>
            <a:ext cx="228600" cy="2286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828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inefficiencies and waste in current process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2697480"/>
            <a:ext cx="228600" cy="2286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impact of pain points on business performance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228600" cy="2286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optimized future state process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4251960"/>
            <a:ext cx="228600" cy="2286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160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improvement initiatives by ROI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5029200"/>
            <a:ext cx="228600" cy="2286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937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measurable success criteria and KPIs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(As-Is) Process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Current State Pain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1430000" cy="8686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182880" cy="8686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Data Entry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1188720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325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error rate; 3hrs/day wasted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11430000" cy="8686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94560"/>
            <a:ext cx="182880" cy="8686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2377440"/>
            <a:ext cx="1188720" cy="3200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331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decisions; reactive 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11430000" cy="8686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00400"/>
            <a:ext cx="182880" cy="8686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Paper-Based Approvals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0" y="3383280"/>
            <a:ext cx="1188720" cy="3200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383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33375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approval cycle vs 4-hour target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11430000" cy="8686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06240"/>
            <a:ext cx="182880" cy="8686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Data Sources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0" y="4389120"/>
            <a:ext cx="118872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43434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reporting; manual reconciliation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5212080"/>
            <a:ext cx="11430000" cy="8686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5212080"/>
            <a:ext cx="182880" cy="8686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257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Standardization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14800" y="5394960"/>
            <a:ext cx="1188720" cy="32004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5394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53492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quality; training burden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State Design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Future State Benefits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7432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Target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9680" y="1188720"/>
            <a:ext cx="27432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2743200" cy="9144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Time Reduction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1828800"/>
            <a:ext cx="2743200" cy="9144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1828800"/>
            <a:ext cx="2743200" cy="9144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hours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Reduction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35040" y="288036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869680" y="2880360"/>
            <a:ext cx="2743200" cy="91440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2743200" cy="9144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0" y="3931920"/>
            <a:ext cx="2743200" cy="9144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35040" y="3931920"/>
            <a:ext cx="2743200" cy="9144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$250K/yr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869680" y="3931920"/>
            <a:ext cx="2743200" cy="91440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65760" y="498348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983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00400" y="498348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983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3.8/5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035040" y="498348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4983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4.5/5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869680" y="4983480"/>
            <a:ext cx="2743200" cy="91440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0" y="4983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Implementation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11247120" cy="0"/>
          </a:xfrm>
          <a:prstGeom prst="line">
            <a:avLst/>
          </a:prstGeom>
          <a:noFill/>
          <a:ln w="38100">
            <a:solidFill>
              <a:srgbClr val="526D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3474720" cy="146304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743200"/>
            <a:ext cx="365760" cy="365760"/>
          </a:xfrm>
          <a:prstGeom prst="ellipse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9184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91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standards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69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wins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46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selection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3474720" cy="14630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Automation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365760" cy="36576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29184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291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automation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06908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069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integration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484632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846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1188720"/>
            <a:ext cx="3474720" cy="146304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Optimization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966960" y="2743200"/>
            <a:ext cx="365760" cy="365760"/>
          </a:xfrm>
          <a:prstGeom prst="ellipse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329184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3291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Analytics deployment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406908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40690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tuning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4846320"/>
            <a:ext cx="3474720" cy="68580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4846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Decisions Required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5303520" cy="594360"/>
          </a:xfrm>
          <a:prstGeom prst="rect">
            <a:avLst/>
          </a:prstGeom>
          <a:solidFill>
            <a:srgbClr val="DDE6ED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Approve future state design (Owner: [Name], Due: [Date])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5303520" cy="594360"/>
          </a:xfrm>
          <a:prstGeom prst="rect">
            <a:avLst/>
          </a:prstGeom>
          <a:solidFill>
            <a:srgbClr val="DDE6ED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Assign process improvement project team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5303520" cy="594360"/>
          </a:xfrm>
          <a:prstGeom prst="rect">
            <a:avLst/>
          </a:prstGeom>
          <a:solidFill>
            <a:srgbClr val="DDE6ED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Initiate vendor/tool evaluation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5303520" cy="594360"/>
          </a:xfrm>
          <a:prstGeom prst="rect">
            <a:avLst/>
          </a:prstGeom>
          <a:solidFill>
            <a:srgbClr val="DDE6ED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033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Schedule detailed design workshops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389120"/>
            <a:ext cx="5303520" cy="594360"/>
          </a:xfrm>
          <a:prstGeom prst="rect">
            <a:avLst/>
          </a:prstGeom>
          <a:solidFill>
            <a:srgbClr val="DDE6ED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Establish process improvement KPI baseline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Required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645920"/>
            <a:ext cx="5486400" cy="123444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6916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recommended future state?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240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[Sponsor]  |  Due: [Date]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017520"/>
            <a:ext cx="5486400" cy="123444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063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budget allocation?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[CFO]  |  Due: [Date]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389120"/>
            <a:ext cx="5486400" cy="123444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434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implementation partner?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983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[Committee]  |  Due: [Date]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7374D"/>
      </a:dk2>
      <a:lt2>
        <a:srgbClr val="DDE6ED"/>
      </a:lt2>
      <a:accent1>
        <a:srgbClr val="526D8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2026-06-12T18:42:44Z</dcterms:created>
  <dcterms:modified xsi:type="dcterms:W3CDTF">2026-06-12T18:42:44Z</dcterms:modified>
</cp:coreProperties>
</file>